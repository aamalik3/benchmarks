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B9AC122-7CB4-4A8E-9493-25BDDE2DD1B0}">
  <a:tblStyle styleId="{BB9AC122-7CB4-4A8E-9493-25BDDE2DD1B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bb6e5f7e0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bb6e5f7e0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c64bca55b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c64bca55b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dacac4312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dacac4312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bcfc2e9d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bcfc2e9d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c35a44b79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c35a44b79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675085"/>
            <a:ext cx="8229600" cy="8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2266950"/>
            <a:ext cx="8229600" cy="23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yush-agarwal-0502/Image-Processing-using-Verilog-ICHIP22-PS1" TargetMode="External"/><Relationship Id="rId3" Type="http://schemas.openxmlformats.org/officeDocument/2006/relationships/hyperlink" Target="https://github.com/bcattle/hardh264/tree/master" TargetMode="External"/><Relationship Id="rId7" Type="http://schemas.openxmlformats.org/officeDocument/2006/relationships/hyperlink" Target="https://github.com/WangXuan95/FPGA-PNG-decode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valar1234/MIPS" TargetMode="External"/><Relationship Id="rId5" Type="http://schemas.openxmlformats.org/officeDocument/2006/relationships/hyperlink" Target="https://github.com/xingyf14/CRYSTALS-Kyber" TargetMode="External"/><Relationship Id="rId4" Type="http://schemas.openxmlformats.org/officeDocument/2006/relationships/hyperlink" Target="https://github.com/kuladeepsaireddy/OpenNoc/tree/master" TargetMode="External"/><Relationship Id="rId9" Type="http://schemas.openxmlformats.org/officeDocument/2006/relationships/hyperlink" Target="https://github.com/bakhshalipour/NoC-Verilog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WangXuan95/FPGA-PNG-decoder" TargetMode="External"/><Relationship Id="rId7" Type="http://schemas.openxmlformats.org/officeDocument/2006/relationships/hyperlink" Target="https://opencores.org/projects/trigonometric_functions_in_double_fpu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owocomm-0/fpga-fft" TargetMode="External"/><Relationship Id="rId5" Type="http://schemas.openxmlformats.org/officeDocument/2006/relationships/hyperlink" Target="https://github.com/padhi499/Image-Classification-using-CNN-on-FPGA" TargetMode="External"/><Relationship Id="rId4" Type="http://schemas.openxmlformats.org/officeDocument/2006/relationships/hyperlink" Target="https://github.com/WangXuan95/FPGA-JPEG-LS-encoder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natanvotre/fm-transmitter/blob/master/src/utils/sign_extend.v" TargetMode="External"/><Relationship Id="rId3" Type="http://schemas.openxmlformats.org/officeDocument/2006/relationships/hyperlink" Target="https://github.com/danieleninni/fir-filter-fpga" TargetMode="External"/><Relationship Id="rId7" Type="http://schemas.openxmlformats.org/officeDocument/2006/relationships/hyperlink" Target="https://github.com/suburaaj/Fpga-Implementation-of-Precise-Convolutional-Neural-Network-for-Extreme-Learning-Machine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HeerAmbavi/RSAonVerilog" TargetMode="External"/><Relationship Id="rId5" Type="http://schemas.openxmlformats.org/officeDocument/2006/relationships/hyperlink" Target="https://github.com/gabrielebaris/iir-audio-filter-fpga" TargetMode="External"/><Relationship Id="rId10" Type="http://schemas.openxmlformats.org/officeDocument/2006/relationships/hyperlink" Target="https://github.com/mcupro/simple-FSK" TargetMode="External"/><Relationship Id="rId4" Type="http://schemas.openxmlformats.org/officeDocument/2006/relationships/hyperlink" Target="https://github.com/coole198669/viterbi_decoder" TargetMode="External"/><Relationship Id="rId9" Type="http://schemas.openxmlformats.org/officeDocument/2006/relationships/hyperlink" Target="https://github.com/vrishbhan/Matrix-Multiplication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CastleFirstKR/systolic_array_processor" TargetMode="External"/><Relationship Id="rId3" Type="http://schemas.openxmlformats.org/officeDocument/2006/relationships/hyperlink" Target="https://github.com/freecores/fpga-median" TargetMode="External"/><Relationship Id="rId7" Type="http://schemas.openxmlformats.org/officeDocument/2006/relationships/hyperlink" Target="https://github.com/ameyk1/Fast-Fourier-Transfor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jtsagata/ImageFilter/tree/master" TargetMode="External"/><Relationship Id="rId5" Type="http://schemas.openxmlformats.org/officeDocument/2006/relationships/hyperlink" Target="https://github.com/hanchenye/fft-kernel" TargetMode="External"/><Relationship Id="rId4" Type="http://schemas.openxmlformats.org/officeDocument/2006/relationships/hyperlink" Target="https://github.com/randysuen/heap_sort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" name="Google Shape;60;p14"/>
          <p:cNvGraphicFramePr/>
          <p:nvPr/>
        </p:nvGraphicFramePr>
        <p:xfrm>
          <a:off x="376250" y="230800"/>
          <a:ext cx="7729875" cy="4699365"/>
        </p:xfrm>
        <a:graphic>
          <a:graphicData uri="http://schemas.openxmlformats.org/drawingml/2006/table">
            <a:tbl>
              <a:tblPr>
                <a:noFill/>
                <a:tableStyleId>{BB9AC122-7CB4-4A8E-9493-25BDDE2DD1B0}</a:tableStyleId>
              </a:tblPr>
              <a:tblGrid>
                <a:gridCol w="155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0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7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9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/>
                        <a:t>Benchmark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/>
                        <a:t>Clock Cycles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/>
                        <a:t>LUT</a:t>
                      </a:r>
                      <a:endParaRPr sz="1300" b="1"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/>
                        <a:t>Flip Flops</a:t>
                      </a:r>
                      <a:endParaRPr sz="13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/>
                        <a:t>Block Ram</a:t>
                      </a:r>
                      <a:endParaRPr sz="13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DSP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sng">
                          <a:solidFill>
                            <a:schemeClr val="hlink"/>
                          </a:solidFill>
                          <a:highlight>
                            <a:srgbClr val="FFFFFF"/>
                          </a:highlight>
                          <a:hlinkClick r:id="rId3"/>
                        </a:rPr>
                        <a:t>hardh264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171,029 cycles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3034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1095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4"/>
                        </a:rPr>
                        <a:t>OpenNOC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8,941,998 cycles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4980</a:t>
                      </a:r>
                      <a:endParaRPr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4017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5"/>
                        </a:rPr>
                        <a:t>Kyber Server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34,806 cycles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7016</a:t>
                      </a:r>
                      <a:endParaRPr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2985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5"/>
                        </a:rPr>
                        <a:t>Kyber Client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20,802 cycles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7283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3002</a:t>
                      </a:r>
                      <a:endParaRPr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6"/>
                        </a:rPr>
                        <a:t>MIPS</a:t>
                      </a:r>
                      <a:endParaRPr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1,341 cycles</a:t>
                      </a:r>
                      <a:endParaRPr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916</a:t>
                      </a:r>
                      <a:endParaRPr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197</a:t>
                      </a:r>
                      <a:endParaRPr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7.5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7"/>
                        </a:rPr>
                        <a:t>PNG decoder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10,181,839 cycles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2737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597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22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8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8"/>
                        </a:rPr>
                        <a:t>Image Processor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98,303 cycles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84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9"/>
                        </a:rPr>
                        <a:t>NoC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49,956 cycles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Slide 14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—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—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—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ECC (too large to fit on specified area)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6265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5089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" name="Google Shape;65;p15"/>
          <p:cNvGraphicFramePr/>
          <p:nvPr/>
        </p:nvGraphicFramePr>
        <p:xfrm>
          <a:off x="376250" y="230800"/>
          <a:ext cx="7729850" cy="4085450"/>
        </p:xfrm>
        <a:graphic>
          <a:graphicData uri="http://schemas.openxmlformats.org/drawingml/2006/table">
            <a:tbl>
              <a:tblPr>
                <a:noFill/>
                <a:tableStyleId>{BB9AC122-7CB4-4A8E-9493-25BDDE2DD1B0}</a:tableStyleId>
              </a:tblPr>
              <a:tblGrid>
                <a:gridCol w="137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1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9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6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9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/>
                        <a:t>Benchmark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/>
                        <a:t>Image</a:t>
                      </a:r>
                      <a:endParaRPr sz="1300" b="1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/>
                        <a:t>Clock Cycles</a:t>
                      </a:r>
                      <a:endParaRPr sz="1300" b="1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/>
                        <a:t>LUT</a:t>
                      </a:r>
                      <a:endParaRPr sz="1300" b="1"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/>
                        <a:t>Flip Flops</a:t>
                      </a:r>
                      <a:endParaRPr sz="13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/>
                        <a:t>Block Ram</a:t>
                      </a:r>
                      <a:endParaRPr sz="13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DSP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accent5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PNG decoder</a:t>
                      </a:r>
                      <a:endParaRPr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10,181,839 cycles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2737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597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22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^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399,996 cycles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2737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597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22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4"/>
                        </a:rPr>
                        <a:t>JPEG decoder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001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78,652 cycles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2334</a:t>
                      </a:r>
                      <a:endParaRPr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469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4.5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^ </a:t>
                      </a:r>
                      <a:endParaRPr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007</a:t>
                      </a:r>
                      <a:endParaRPr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4,147,561 cycles</a:t>
                      </a:r>
                      <a:endParaRPr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2334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469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4.5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5"/>
                        </a:rPr>
                        <a:t>Image Classification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Testbench not provided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1774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511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6"/>
                        </a:rPr>
                        <a:t>FFT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3,274 cycles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2508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6096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32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7"/>
                        </a:rPr>
                        <a:t>Trigonometry 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1,268 cycles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1242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435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Matrix Multiplication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63,108,996 cycles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557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141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108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4112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" name="Google Shape;75;p17"/>
          <p:cNvGraphicFramePr/>
          <p:nvPr>
            <p:extLst>
              <p:ext uri="{D42A27DB-BD31-4B8C-83A1-F6EECF244321}">
                <p14:modId xmlns:p14="http://schemas.microsoft.com/office/powerpoint/2010/main" val="57864790"/>
              </p:ext>
            </p:extLst>
          </p:nvPr>
        </p:nvGraphicFramePr>
        <p:xfrm>
          <a:off x="376250" y="230800"/>
          <a:ext cx="7729875" cy="4109955"/>
        </p:xfrm>
        <a:graphic>
          <a:graphicData uri="http://schemas.openxmlformats.org/drawingml/2006/table">
            <a:tbl>
              <a:tblPr>
                <a:noFill/>
                <a:tableStyleId>{BB9AC122-7CB4-4A8E-9493-25BDDE2DD1B0}</a:tableStyleId>
              </a:tblPr>
              <a:tblGrid>
                <a:gridCol w="155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0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7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9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/>
                        <a:t>Benchmark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/>
                        <a:t>Clock Cycles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/>
                        <a:t>LUT</a:t>
                      </a:r>
                      <a:endParaRPr sz="1300" b="1"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/>
                        <a:t>Flip Flops</a:t>
                      </a:r>
                      <a:endParaRPr sz="13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/>
                        <a:t>Block Ram</a:t>
                      </a:r>
                      <a:endParaRPr sz="13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DSP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sng">
                          <a:solidFill>
                            <a:schemeClr val="hlink"/>
                          </a:solidFill>
                          <a:highlight>
                            <a:srgbClr val="FFFFFF"/>
                          </a:highlight>
                          <a:hlinkClick r:id="rId3"/>
                        </a:rPr>
                        <a:t>fir_filter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240 cycles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u="sng">
                          <a:solidFill>
                            <a:schemeClr val="accent5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viterbi_decoder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1,486 cycles 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39</a:t>
                      </a:r>
                      <a:endParaRPr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5"/>
                        </a:rPr>
                        <a:t>IIR_Filter</a:t>
                      </a:r>
                      <a:endParaRPr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1,031 cycles</a:t>
                      </a:r>
                      <a:endParaRPr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74</a:t>
                      </a:r>
                      <a:endParaRPr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36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6"/>
                        </a:rPr>
                        <a:t>RSA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1,371 cycles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562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26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7"/>
                        </a:rPr>
                        <a:t>Neural Network Convolution</a:t>
                      </a:r>
                      <a:endParaRPr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128 cycles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2082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730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8"/>
                        </a:rPr>
                        <a:t>FM Transmitter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 cycles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784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739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9"/>
                        </a:rPr>
                        <a:t>4x4 Matrix Multiplcation</a:t>
                      </a:r>
                      <a:endParaRPr/>
                    </a:p>
                  </a:txBody>
                  <a:tcPr marL="91425" marR="91425" marT="91425" marB="91425"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 cycles</a:t>
                      </a:r>
                      <a:endParaRPr/>
                    </a:p>
                  </a:txBody>
                  <a:tcPr marL="91425" marR="91425" marT="91425" marB="91425"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5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10"/>
                        </a:rPr>
                        <a:t>Simple FSK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51 cycles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0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Google Shape;80;p18"/>
          <p:cNvGraphicFramePr/>
          <p:nvPr/>
        </p:nvGraphicFramePr>
        <p:xfrm>
          <a:off x="348400" y="230800"/>
          <a:ext cx="7757725" cy="3890620"/>
        </p:xfrm>
        <a:graphic>
          <a:graphicData uri="http://schemas.openxmlformats.org/drawingml/2006/table">
            <a:tbl>
              <a:tblPr>
                <a:noFill/>
                <a:tableStyleId>{BB9AC122-7CB4-4A8E-9493-25BDDE2DD1B0}</a:tableStyleId>
              </a:tblPr>
              <a:tblGrid>
                <a:gridCol w="187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7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0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7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9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/>
                        <a:t>Benchmark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/>
                        <a:t>Clock Cycles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/>
                        <a:t>LUT</a:t>
                      </a:r>
                      <a:endParaRPr sz="1300" b="1"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/>
                        <a:t>Flip Flops</a:t>
                      </a:r>
                      <a:endParaRPr sz="13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/>
                        <a:t>Block Ram</a:t>
                      </a:r>
                      <a:endParaRPr sz="13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DSP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3"/>
                        </a:rPr>
                        <a:t>Median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 cycles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4"/>
                        </a:rPr>
                        <a:t>HeapSort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217 cycles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17</a:t>
                      </a:r>
                      <a:endParaRPr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5"/>
                        </a:rPr>
                        <a:t>FFT Kernel</a:t>
                      </a:r>
                      <a:endParaRPr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147 cycles</a:t>
                      </a:r>
                      <a:endParaRPr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3867</a:t>
                      </a:r>
                      <a:endParaRPr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792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6"/>
                        </a:rPr>
                        <a:t>Image Filter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 cycles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113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99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7"/>
                        </a:rPr>
                        <a:t>FFT</a:t>
                      </a:r>
                      <a:endParaRPr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66 cycles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1261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697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8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8"/>
                        </a:rPr>
                        <a:t>Systolic Array Processor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120 cycles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5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5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285</Words>
  <Application>Microsoft Office PowerPoint</Application>
  <PresentationFormat>On-screen Show (16:9)</PresentationFormat>
  <Paragraphs>208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Arsalan Ali Malik</cp:lastModifiedBy>
  <cp:revision>1</cp:revision>
  <dcterms:modified xsi:type="dcterms:W3CDTF">2025-05-18T23:48:39Z</dcterms:modified>
</cp:coreProperties>
</file>